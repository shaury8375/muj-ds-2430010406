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802e7a7-2ea0-afa3-557f-5cda018f4780}">
          <p14:sldIdLst>
            <p14:sldId id="256"/>
          </p14:sldIdLst>
        </p14:section>
        <p14:section name="Idea" id="{f5a5a550-23f0-9e30-6256-f1c08d762089}">
          <p14:sldIdLst>
            <p14:sldId id="257"/>
            <p14:sldId id="258"/>
          </p14:sldIdLst>
        </p14:section>
        <p14:section name="Experiment" id="{a0769272-74a0-a6f1-1b05-acbc2ddb2a54}">
          <p14:sldIdLst>
            <p14:sldId id="259"/>
            <p14:sldId id="260"/>
          </p14:sldIdLst>
        </p14:section>
        <p14:section name="Results" id="{bb618ac1-0755-ddb8-5122-50a60b480e5a}">
          <p14:sldIdLst>
            <p14:sldId id="261"/>
            <p14:sldId id="262"/>
            <p14:sldId id="263"/>
          </p14:sldIdLst>
        </p14:section>
        <p14:section name="Wrap-up" id="{b7f4a711-98c5-4687-d098-267e2de76962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D4A6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D4A66"/>
                </a:solidFill>
                <a:latin typeface="+mn-lt"/>
              </a:rPr>
              <a:t>Test accuracy (%), y-axis starts at 60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CA31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Teacher</c:v>
                  </c:pt>
                  <c:pt idx="1">
                    <c:v>Normal Student</c:v>
                  </c:pt>
                  <c:pt idx="2">
                    <c:v>Distilled Student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83.79</c:v>
                </c:pt>
                <c:pt idx="1">
                  <c:v>75.28</c:v>
                </c:pt>
                <c:pt idx="2">
                  <c:v>76.49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A6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60"/>
        </c:scaling>
        <c:delete val="0"/>
        <c:axPos val="l"/>
        <c:majorGridlines>
          <c:spPr>
            <a:ln w="9525" cap="flat">
              <a:solidFill>
                <a:srgbClr val="DD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compressing a large image classifier into a small one using knowledge distillation.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motivation. The teacher has about 3.25 million parameters; the student has about 357 thousand, roughly 9 times fewer.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student is trained on a mix of the true labels and the teacher's softened probabilities. Temperature T=4 and alpha=0.5 control the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CIFAR-10 is a standard benchmark. Images are tiny, which is why even good models top out around the 80s without augmentation.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Teacher: deeper, with BatchNorm and dropout. Student: a plain small CNN. Both trained the same way so the comparison is fair.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83.79%, normal student 75.28%, distilled student 76.49%. The gain from distillation is about 1.2 points. Timings come from a single run, so treat them as 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Distilled student has the lowest training accuracy but a higher test accuracy than the normal student. Gaps: 88.62-75.28=13.34 and 81.77-76.49=5.28.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live-demo slide: run show_prediction in the notebook on test image 10. One image is illustrative, not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Owner column with teammate names before presenting, and show the Issues and Pull Requests tabs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honestly: a small but real gain from distillation, large compression, and clear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303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Knowledge Distillation on CIFAR-10  |  Shaury Sharma, 2430010406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acher circle"/>
          <p:cNvSpPr/>
          <p:nvPr/>
        </p:nvSpPr>
        <p:spPr>
          <a:xfrm>
            <a:off x="6035040" y="457200"/>
            <a:ext cx="3291840" cy="3291840"/>
          </a:xfrm>
          <a:prstGeom prst="ellipse">
            <a:avLst/>
          </a:prstGeom>
          <a:solidFill>
            <a:schemeClr val="accent4">
              <a:alpha val="65000"/>
            </a:schemeClr>
          </a:solidFill>
          <a:ln/>
        </p:spPr>
      </p:sp>
      <p:sp>
        <p:nvSpPr>
          <p:cNvPr id="3" name="Student circle"/>
          <p:cNvSpPr/>
          <p:nvPr/>
        </p:nvSpPr>
        <p:spPr>
          <a:xfrm>
            <a:off x="8138160" y="30175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09728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Knowledge Distillation for Model Compression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Teacher-student CNNs on CIFAR-10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Shaury Sharma  |  2430010406  |  Section D  |  Batch 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Manipal University Jaipur  |  Capstone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Big models are heavy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Deep networks reach high accuracy, but they cost memory, compute and power.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Phones and edge devices have tight budgets. Can a much smaller model keep most of the accuracy?</a:t>
            </a:r>
            <a:endParaRPr lang="en-US" sz="1600" dirty="0"/>
          </a:p>
        </p:txBody>
      </p:sp>
      <p:sp>
        <p:nvSpPr>
          <p:cNvPr id="5" name="Teacher circle"/>
          <p:cNvSpPr/>
          <p:nvPr/>
        </p:nvSpPr>
        <p:spPr>
          <a:xfrm>
            <a:off x="4846320" y="1371600"/>
            <a:ext cx="2286000" cy="22860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9.1x</a:t>
            </a:r>
            <a:endParaRPr lang="en-US" sz="32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more parameters</a:t>
            </a:r>
            <a:endParaRPr lang="en-US" sz="3200" dirty="0"/>
          </a:p>
        </p:txBody>
      </p:sp>
      <p:sp>
        <p:nvSpPr>
          <p:cNvPr id="7" name="Student circle"/>
          <p:cNvSpPr/>
          <p:nvPr/>
        </p:nvSpPr>
        <p:spPr>
          <a:xfrm>
            <a:off x="7580376" y="2898648"/>
            <a:ext cx="758952" cy="75895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Teacher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3,249,994 parameters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794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Student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356,810 parameters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389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Circle area is proportional to parameter count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Teaching a small model</a:t>
            </a:r>
            <a:endParaRPr lang="en-US" sz="3600" dirty="0"/>
          </a:p>
        </p:txBody>
      </p:sp>
      <p:sp>
        <p:nvSpPr>
          <p:cNvPr id="3" name="Teacher box"/>
          <p:cNvSpPr/>
          <p:nvPr/>
        </p:nvSpPr>
        <p:spPr>
          <a:xfrm>
            <a:off x="548640" y="132588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Teacher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large CNN, trained first</a:t>
            </a:r>
            <a:endParaRPr lang="en-US" sz="1800" dirty="0"/>
          </a:p>
        </p:txBody>
      </p:sp>
      <p:sp>
        <p:nvSpPr>
          <p:cNvPr id="5" name="Student box"/>
          <p:cNvSpPr/>
          <p:nvPr/>
        </p:nvSpPr>
        <p:spPr>
          <a:xfrm>
            <a:off x="6309360" y="1325880"/>
            <a:ext cx="22860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0" y="1325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Student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small CNN, learns from both</a:t>
            </a:r>
            <a:endParaRPr lang="en-US" sz="1800" dirty="0"/>
          </a:p>
        </p:txBody>
      </p:sp>
      <p:sp>
        <p:nvSpPr>
          <p:cNvPr id="7" name="Soft prediction arrow"/>
          <p:cNvSpPr/>
          <p:nvPr/>
        </p:nvSpPr>
        <p:spPr>
          <a:xfrm>
            <a:off x="2834640" y="1828800"/>
            <a:ext cx="338328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346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Soft predictions (temperature T = 4)</a:t>
            </a:r>
            <a:endParaRPr lang="en-US" sz="1300" dirty="0"/>
          </a:p>
        </p:txBody>
      </p:sp>
      <p:sp>
        <p:nvSpPr>
          <p:cNvPr id="9" name="Labels box"/>
          <p:cNvSpPr/>
          <p:nvPr/>
        </p:nvSpPr>
        <p:spPr>
          <a:xfrm>
            <a:off x="6309360" y="2743200"/>
            <a:ext cx="22860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True labels</a:t>
            </a:r>
            <a:endParaRPr lang="en-US" sz="1400" dirty="0"/>
          </a:p>
        </p:txBody>
      </p:sp>
      <p:sp>
        <p:nvSpPr>
          <p:cNvPr id="11" name="Labels arrow"/>
          <p:cNvSpPr/>
          <p:nvPr/>
        </p:nvSpPr>
        <p:spPr>
          <a:xfrm flipV="1">
            <a:off x="7452360" y="2743200"/>
            <a:ext cx="0" cy="-36576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Formula panel"/>
          <p:cNvSpPr/>
          <p:nvPr/>
        </p:nvSpPr>
        <p:spPr>
          <a:xfrm>
            <a:off x="548640" y="3429000"/>
            <a:ext cx="57607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290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α × CrossEntropy(student, labels)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+ (1 − α) × T² × KL(softmax(teacher/T) ‖ softmax(student/T))</a:t>
            </a:r>
            <a:endParaRPr lang="en-US" sz="1300" dirty="0"/>
          </a:p>
        </p:txBody>
      </p:sp>
      <p:sp>
        <p:nvSpPr>
          <p:cNvPr id="14" name="T chip"/>
          <p:cNvSpPr/>
          <p:nvPr/>
        </p:nvSpPr>
        <p:spPr>
          <a:xfrm>
            <a:off x="6675120" y="3429000"/>
            <a:ext cx="9144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 = 4.0</a:t>
            </a:r>
            <a:endParaRPr lang="en-US" sz="1400" dirty="0"/>
          </a:p>
        </p:txBody>
      </p:sp>
      <p:sp>
        <p:nvSpPr>
          <p:cNvPr id="16" name="Alpha chip"/>
          <p:cNvSpPr/>
          <p:nvPr/>
        </p:nvSpPr>
        <p:spPr>
          <a:xfrm>
            <a:off x="7680960" y="3429000"/>
            <a:ext cx="9144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0" y="3429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α = 0.5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Temperature softens the teacher's probabilities so the student also learns which wrong classes look similar.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dataset: CIFAR-10</a:t>
            </a:r>
            <a:endParaRPr lang="en-US" sz="3600" dirty="0"/>
          </a:p>
        </p:txBody>
      </p:sp>
      <p:pic>
        <p:nvPicPr>
          <p:cNvPr id="3" name="Sample grid" descr="Sample CIFAR-10 training images with class lab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046720" cy="25100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60,000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colour images, 50,000 train and 10,000 test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10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classes: airplane, bird, cat, ship, truck and more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32 x 32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251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pixels per image, normalised to [-1, 1]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models, one task</a:t>
            </a:r>
            <a:endParaRPr lang="en-US" sz="3600" dirty="0"/>
          </a:p>
        </p:txBody>
      </p:sp>
      <p:sp>
        <p:nvSpPr>
          <p:cNvPr id="3" name="TEACHER card"/>
          <p:cNvSpPr/>
          <p:nvPr/>
        </p:nvSpPr>
        <p:spPr>
          <a:xfrm>
            <a:off x="548640" y="1280160"/>
            <a:ext cx="38404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TEACHER pill"/>
          <p:cNvSpPr/>
          <p:nvPr/>
        </p:nvSpPr>
        <p:spPr>
          <a:xfrm>
            <a:off x="822960" y="1554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TEACHER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3.25M parameters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conv layers with BatchNorm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Dropout 0.5 and a 512-unit dense layer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Adam, lr 0.001, 10 epochs</a:t>
            </a:r>
            <a:endParaRPr lang="en-US" sz="1500" dirty="0"/>
          </a:p>
        </p:txBody>
      </p:sp>
      <p:sp>
        <p:nvSpPr>
          <p:cNvPr id="8" name="STUDENT card"/>
          <p:cNvSpPr/>
          <p:nvPr/>
        </p:nvSpPr>
        <p:spPr>
          <a:xfrm>
            <a:off x="4754880" y="1280160"/>
            <a:ext cx="38404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9" name="STUDENT pill"/>
          <p:cNvSpPr/>
          <p:nvPr/>
        </p:nvSpPr>
        <p:spPr>
          <a:xfrm>
            <a:off x="5029200" y="1554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STUDENT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357K parameters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834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conv layers, no BatchNorm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single 128-unit dense layer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training recipe as the teacher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Results at a glance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5760720" y="1188720"/>
            <a:ext cx="2834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261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+1.21 pts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distilled vs normal student, same 357K-parameter model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5760720" y="2377440"/>
            <a:ext cx="2834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24505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9.11x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fewer parameters than the teacher</a:t>
            </a:r>
            <a:endParaRPr lang="en-US" sz="1100" dirty="0"/>
          </a:p>
        </p:txBody>
      </p:sp>
      <p:sp>
        <p:nvSpPr>
          <p:cNvPr id="10" name="Stat card 3"/>
          <p:cNvSpPr/>
          <p:nvPr/>
        </p:nvSpPr>
        <p:spPr>
          <a:xfrm>
            <a:off x="5760720" y="3566160"/>
            <a:ext cx="2834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36393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0.7-1.1 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student inference vs 1.17 s teacher (20 test batches, one noisy run)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Training behaviour</a:t>
            </a:r>
            <a:endParaRPr lang="en-US" sz="3600" dirty="0"/>
          </a:p>
        </p:txBody>
      </p:sp>
      <p:pic>
        <p:nvPicPr>
          <p:cNvPr id="3" name="Training curves" descr="Training accuracy per epoch for teacher, normal student and distilled stu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72000" cy="29745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97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Training accuracy per epoch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234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Final training accuracy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Teacher 90.93%, normal student 88.62%, distilled student 81.77%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Train-to-test gap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Normal student 13.3 points, distilled student 5.3 points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distilled student fits the training set less tightly but generalises slightly better. This suggests the soft targets act as a regulariser.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image, three models</a:t>
            </a:r>
            <a:endParaRPr lang="en-US" sz="3600" dirty="0"/>
          </a:p>
        </p:txBody>
      </p:sp>
      <p:pic>
        <p:nvPicPr>
          <p:cNvPr id="3" name="Teacher image" descr="Teacher prediction on a test image of an airpla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783080" cy="1783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Teacher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98.63%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confidence: airplane</a:t>
            </a:r>
            <a:endParaRPr lang="en-US" sz="1100" dirty="0"/>
          </a:p>
        </p:txBody>
      </p:sp>
      <p:pic>
        <p:nvPicPr>
          <p:cNvPr id="7" name="Normal Student image" descr="Normal Student prediction on a test image of an airpla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280160"/>
            <a:ext cx="1783080" cy="1783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1460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Normal Student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251460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93.47%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251460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confidence: airplane</a:t>
            </a:r>
            <a:endParaRPr lang="en-US" sz="1100" dirty="0"/>
          </a:p>
        </p:txBody>
      </p:sp>
      <p:pic>
        <p:nvPicPr>
          <p:cNvPr id="11" name="Distilled Student image" descr="Distilled Student prediction on a test image of an airpla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280160"/>
            <a:ext cx="1783080" cy="1783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80560" y="3154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Distilled Student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480560" y="3429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72.72%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448056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confidence: airplane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1280160"/>
            <a:ext cx="2103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All three are correct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model predicts airplane for test image 10.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Confidence differs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distilled student is the least confident and spreads some probability over other classes such as bird and deer.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One example only, not a statistical result.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Team and contributions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Workstream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was done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Dataset and preprocessing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CIFAR-10 loading, normalisation, data loaders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3D4A66"/>
                          </a:solidFill>
                        </a:rPr>
                        <a:t>Add name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Model development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Teacher and student CNNs, distillation loss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3D4A66"/>
                          </a:solidFill>
                        </a:rPr>
                        <a:t>Add name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Testing and evaluation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Accuracy, parameter counts, inference timing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3D4A66"/>
                          </a:solidFill>
                        </a:rPr>
                        <a:t>Add name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Documentation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README, install guide, results plots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3D4A66"/>
                          </a:solidFill>
                        </a:rPr>
                        <a:t>Add name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</a:rPr>
                        <a:t>GitHub workflow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Issues, branches, pull requests, reviews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3D4A66"/>
                          </a:solidFill>
                        </a:rPr>
                        <a:t>Add name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Personal repository: MUJ-DS-2430010406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next steps</a:t>
            </a:r>
            <a:endParaRPr lang="en-US" sz="3600" dirty="0"/>
          </a:p>
        </p:txBody>
      </p:sp>
      <p:sp>
        <p:nvSpPr>
          <p:cNvPr id="3" name="Student circle"/>
          <p:cNvSpPr/>
          <p:nvPr/>
        </p:nvSpPr>
        <p:spPr>
          <a:xfrm>
            <a:off x="795528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we found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Distillation lifted a 357K-parameter student from 75.28% to 76.49% test accuracy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student is 9.11x smaller than the 83.79% teacher, at about 7.3 points lower accuracy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gain is modest and from one run, so repeat it with several seeds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7373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Tune temperature and alpha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Train longer with data augmentation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Try pruning and quantisation, then deploy the student in a small app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Thank you.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illation">
  <a:themeElements>
    <a:clrScheme name="Distillation">
      <a:dk1>
        <a:srgbClr val="14213D"/>
      </a:dk1>
      <a:lt1>
        <a:srgbClr val="FFFFFF"/>
      </a:lt1>
      <a:dk2>
        <a:srgbClr val="3D4A66"/>
      </a:dk2>
      <a:lt2>
        <a:srgbClr val="EEF1F7"/>
      </a:lt2>
      <a:accent1>
        <a:srgbClr val="FCA311"/>
      </a:accent1>
      <a:accent2>
        <a:srgbClr val="2A9D8F"/>
      </a:accent2>
      <a:accent3>
        <a:srgbClr val="E76F51"/>
      </a:accent3>
      <a:accent4>
        <a:srgbClr val="4361EE"/>
      </a:accent4>
      <a:accent5>
        <a:srgbClr val="8D99AE"/>
      </a:accent5>
      <a:accent6>
        <a:srgbClr val="264653"/>
      </a:accent6>
      <a:hlink>
        <a:srgbClr val="4361EE"/>
      </a:hlink>
      <a:folHlink>
        <a:srgbClr val="8D99AE"/>
      </a:folHlink>
    </a:clrScheme>
    <a:fontScheme name="Distill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Distillation for Model Compression</dc:title>
  <dc:subject>PptxGenJS Presentation</dc:subject>
  <dc:creator>Shaury Sharma</dc:creator>
  <cp:lastModifiedBy>Shaury Sharma</cp:lastModifiedBy>
  <cp:revision>1</cp:revision>
  <dcterms:created xsi:type="dcterms:W3CDTF">2026-10-13T19:51:09Z</dcterms:created>
  <dcterms:modified xsi:type="dcterms:W3CDTF">2026-10-13T19:51:09Z</dcterms:modified>
</cp:coreProperties>
</file>